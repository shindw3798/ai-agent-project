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0918f389b04ff7" /><Relationship Type="http://schemas.openxmlformats.org/officeDocument/2006/relationships/extended-properties" Target="/docProps/app.xml" Id="R0a32847f14db4eb4" /><Relationship Type="http://schemas.openxmlformats.org/officeDocument/2006/relationships/officeDocument" Target="/ppt/presentation.xml" Id="R120bbaf76e2d4c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c56e80d6d54ed4"/>
  </p:sldMasterIdLst>
  <p:notesMasterIdLst>
    <p:notesMasterId xmlns:r="http://schemas.openxmlformats.org/officeDocument/2006/relationships" r:id="R7f9db2a0d38148e4"/>
  </p:notesMasterIdLst>
  <p:sldIdLst>
    <p:sldId xmlns:r="http://schemas.openxmlformats.org/officeDocument/2006/relationships" id="256" r:id="R4b8f92230476414f"/>
    <p:sldId xmlns:r="http://schemas.openxmlformats.org/officeDocument/2006/relationships" id="257" r:id="R3fffec1dc83348dd"/>
    <p:sldId xmlns:r="http://schemas.openxmlformats.org/officeDocument/2006/relationships" id="258" r:id="Rd6f5f65ceedd4858"/>
    <p:sldId xmlns:r="http://schemas.openxmlformats.org/officeDocument/2006/relationships" id="259" r:id="Rece55795297a4a0d"/>
    <p:sldId xmlns:r="http://schemas.openxmlformats.org/officeDocument/2006/relationships" id="260" r:id="R6d0b4260da0b4ad0"/>
    <p:sldId xmlns:r="http://schemas.openxmlformats.org/officeDocument/2006/relationships" id="261" r:id="R9db627ebe2664cf3"/>
    <p:sldId xmlns:r="http://schemas.openxmlformats.org/officeDocument/2006/relationships" id="262" r:id="R86bbc8393d5f45b4"/>
    <p:sldId xmlns:r="http://schemas.openxmlformats.org/officeDocument/2006/relationships" id="263" r:id="R7ba40bd3ddec4a51"/>
    <p:sldId xmlns:r="http://schemas.openxmlformats.org/officeDocument/2006/relationships" id="264" r:id="R937335edd9694157"/>
    <p:sldId xmlns:r="http://schemas.openxmlformats.org/officeDocument/2006/relationships" id="265" r:id="R3c940eb026ae4cee"/>
    <p:sldId xmlns:r="http://schemas.openxmlformats.org/officeDocument/2006/relationships" id="266" r:id="R63e498788ff24e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6b1fbf52f14adb" /><Relationship Type="http://schemas.openxmlformats.org/officeDocument/2006/relationships/slideMaster" Target="/ppt/slideMasters/slideMaster1.xml" Id="Rd1c56e80d6d54ed4" /><Relationship Type="http://schemas.openxmlformats.org/officeDocument/2006/relationships/notesMaster" Target="/ppt/notesMasters/notesMaster1.xml" Id="R7f9db2a0d38148e4" /><Relationship Type="http://schemas.openxmlformats.org/officeDocument/2006/relationships/presProps" Target="/ppt/presProps.xml" Id="R7ebab9eb2cf64ef1" /><Relationship Type="http://schemas.openxmlformats.org/officeDocument/2006/relationships/tableStyles" Target="/ppt/tableStyles.xml" Id="R1bcc045aa01d4c28" /><Relationship Type="http://schemas.openxmlformats.org/officeDocument/2006/relationships/slide" Target="/ppt/slides/slide1.xml" Id="R4b8f92230476414f" /><Relationship Type="http://schemas.openxmlformats.org/officeDocument/2006/relationships/slide" Target="/ppt/slides/slide2.xml" Id="R3fffec1dc83348dd" /><Relationship Type="http://schemas.openxmlformats.org/officeDocument/2006/relationships/slide" Target="/ppt/slides/slide3.xml" Id="Rd6f5f65ceedd4858" /><Relationship Type="http://schemas.openxmlformats.org/officeDocument/2006/relationships/slide" Target="/ppt/slides/slide4.xml" Id="Rece55795297a4a0d" /><Relationship Type="http://schemas.openxmlformats.org/officeDocument/2006/relationships/slide" Target="/ppt/slides/slide5.xml" Id="R6d0b4260da0b4ad0" /><Relationship Type="http://schemas.openxmlformats.org/officeDocument/2006/relationships/slide" Target="/ppt/slides/slide6.xml" Id="R9db627ebe2664cf3" /><Relationship Type="http://schemas.openxmlformats.org/officeDocument/2006/relationships/slide" Target="/ppt/slides/slide7.xml" Id="R86bbc8393d5f45b4" /><Relationship Type="http://schemas.openxmlformats.org/officeDocument/2006/relationships/slide" Target="/ppt/slides/slide8.xml" Id="R7ba40bd3ddec4a51" /><Relationship Type="http://schemas.openxmlformats.org/officeDocument/2006/relationships/slide" Target="/ppt/slides/slide9.xml" Id="R937335edd9694157" /><Relationship Type="http://schemas.openxmlformats.org/officeDocument/2006/relationships/slide" Target="/ppt/slides/slide10.xml" Id="R3c940eb026ae4cee" /><Relationship Type="http://schemas.openxmlformats.org/officeDocument/2006/relationships/slide" Target="/ppt/slides/slide11.xml" Id="R63e498788ff2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ab94e1ae45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1c745000c746d1" /><Relationship Type="http://schemas.openxmlformats.org/officeDocument/2006/relationships/notesMaster" Target="/ppt/notesMasters/notesMaster1.xml" Id="R5ac389944daa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a0da96fd344074" /><Relationship Type="http://schemas.openxmlformats.org/officeDocument/2006/relationships/notesMaster" Target="/ppt/notesMasters/notesMaster1.xml" Id="R8af5cc3ffea541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e7e1ffc0b743b3" /><Relationship Type="http://schemas.openxmlformats.org/officeDocument/2006/relationships/notesMaster" Target="/ppt/notesMasters/notesMaster1.xml" Id="R3bf1ecfa208b41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d266d4373e4f55" /><Relationship Type="http://schemas.openxmlformats.org/officeDocument/2006/relationships/notesMaster" Target="/ppt/notesMasters/notesMaster1.xml" Id="R5f2197ffa34842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ed4fa5f443497c" /><Relationship Type="http://schemas.openxmlformats.org/officeDocument/2006/relationships/notesMaster" Target="/ppt/notesMasters/notesMaster1.xml" Id="R182cc5cbf1c340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8db46225ae4bb4" /><Relationship Type="http://schemas.openxmlformats.org/officeDocument/2006/relationships/notesMaster" Target="/ppt/notesMasters/notesMaster1.xml" Id="R54d7186e8b9240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e04c4bbe4546d7" /><Relationship Type="http://schemas.openxmlformats.org/officeDocument/2006/relationships/notesMaster" Target="/ppt/notesMasters/notesMaster1.xml" Id="R41e0c4a1275047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8203d360a044a6" /><Relationship Type="http://schemas.openxmlformats.org/officeDocument/2006/relationships/notesMaster" Target="/ppt/notesMasters/notesMaster1.xml" Id="R64818f9637654f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a3feecdcc44d3" /><Relationship Type="http://schemas.openxmlformats.org/officeDocument/2006/relationships/notesMaster" Target="/ppt/notesMasters/notesMaster1.xml" Id="R6d979d5c63f8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4f5670996d4ee5" /><Relationship Type="http://schemas.openxmlformats.org/officeDocument/2006/relationships/notesMaster" Target="/ppt/notesMasters/notesMaster1.xml" Id="R5f1fd2ba731f4a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c3ea29f5fb4285" /><Relationship Type="http://schemas.openxmlformats.org/officeDocument/2006/relationships/notesMaster" Target="/ppt/notesMasters/notesMaster1.xml" Id="R88bce911cd974d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2db53098442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2544af6464c5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c4605b528c47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10c5fff4c4b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b444d972a48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edf5b8a3d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057248-4B50-40D7-BDD6-B3A95C662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F15EEC-9132-4B42-A418-C5E1E98FFF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5202085-612C-4459-AE39-287931D3C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933087-D09D-4266-BFF0-D556C8DC2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28FB80-057B-4CA5-8520-883636272F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4AE23B-C891-451B-8AB2-9C1085F411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966477A-EE85-4BAC-A937-10D1F63236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A973EE-30ED-4664-95BB-FC47B864F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3729FF-BD5F-4835-A895-D591E7156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DC5545-91C7-47BD-93E7-7CE9CFA379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02d23302d5430c" /><Relationship Type="http://schemas.openxmlformats.org/officeDocument/2006/relationships/slideLayout" Target="/ppt/slideLayouts/slideLayout1.xml" Id="R4a017fc39f6841fb" /><Relationship Type="http://schemas.openxmlformats.org/officeDocument/2006/relationships/slideLayout" Target="/ppt/slideLayouts/slideLayout2.xml" Id="R16c09e1d9bc14952" /><Relationship Type="http://schemas.openxmlformats.org/officeDocument/2006/relationships/slideLayout" Target="/ppt/slideLayouts/slideLayout3.xml" Id="Rd4238f43914e4356" /><Relationship Type="http://schemas.openxmlformats.org/officeDocument/2006/relationships/slideLayout" Target="/ppt/slideLayouts/slideLayout4.xml" Id="Re53f05d0ecf54609" /><Relationship Type="http://schemas.openxmlformats.org/officeDocument/2006/relationships/slideLayout" Target="/ppt/slideLayouts/slideLayout5.xml" Id="R1ded798caa0545a8" /><Relationship Type="http://schemas.openxmlformats.org/officeDocument/2006/relationships/slideLayout" Target="/ppt/slideLayouts/slideLayout6.xml" Id="R8f10a9af30fc41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17fc39f6841fb"/>
    <p:sldLayoutId xmlns:r="http://schemas.openxmlformats.org/officeDocument/2006/relationships" id="2147483650" r:id="R16c09e1d9bc14952"/>
    <p:sldLayoutId xmlns:r="http://schemas.openxmlformats.org/officeDocument/2006/relationships" id="2147483651" r:id="Rd4238f43914e4356"/>
    <p:sldLayoutId xmlns:r="http://schemas.openxmlformats.org/officeDocument/2006/relationships" id="2147483652" r:id="Re53f05d0ecf54609"/>
    <p:sldLayoutId xmlns:r="http://schemas.openxmlformats.org/officeDocument/2006/relationships" id="2147483653" r:id="R1ded798caa0545a8"/>
    <p:sldLayoutId xmlns:r="http://schemas.openxmlformats.org/officeDocument/2006/relationships" id="2147483654" r:id="R8f10a9af30fc41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9dc3b02d68420b" /><Relationship Type="http://schemas.openxmlformats.org/officeDocument/2006/relationships/notesSlide" Target="/ppt/notesSlides/notesSlide1.xml" Id="Raf8c3bf4a87646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9c77510e3f4f96" /><Relationship Type="http://schemas.openxmlformats.org/officeDocument/2006/relationships/notesSlide" Target="/ppt/notesSlides/notesSlide2.xml" Id="R62a61b22082341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1803592809428d" /><Relationship Type="http://schemas.openxmlformats.org/officeDocument/2006/relationships/image" Target="/ppt/media/image.png" Id="Rbcac80c007ff418a" /><Relationship Type="http://schemas.openxmlformats.org/officeDocument/2006/relationships/notesSlide" Target="/ppt/notesSlides/notesSlide3.xml" Id="Rc9a0016df365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5d9290f0cf4c8d" /><Relationship Type="http://schemas.openxmlformats.org/officeDocument/2006/relationships/notesSlide" Target="/ppt/notesSlides/notesSlide4.xml" Id="R2be5983ef51a42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f82240e8648b0" /><Relationship Type="http://schemas.openxmlformats.org/officeDocument/2006/relationships/notesSlide" Target="/ppt/notesSlides/notesSlide5.xml" Id="R1d894d2936f248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c58b9de2964f5b" /><Relationship Type="http://schemas.openxmlformats.org/officeDocument/2006/relationships/notesSlide" Target="/ppt/notesSlides/notesSlide6.xml" Id="Re702b149bdc2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5eeb506b0048b6" /><Relationship Type="http://schemas.openxmlformats.org/officeDocument/2006/relationships/notesSlide" Target="/ppt/notesSlides/notesSlide7.xml" Id="R7d5f8a4f4991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266fd08f014f15" /><Relationship Type="http://schemas.openxmlformats.org/officeDocument/2006/relationships/notesSlide" Target="/ppt/notesSlides/notesSlide8.xml" Id="R8dcb4149799b46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7d0f7d8e34cca" /><Relationship Type="http://schemas.openxmlformats.org/officeDocument/2006/relationships/notesSlide" Target="/ppt/notesSlides/notesSlide9.xml" Id="Rb2644409825e48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e8ca7cef6e4d30" /><Relationship Type="http://schemas.openxmlformats.org/officeDocument/2006/relationships/image" Target="/ppt/media/image.jpeg" Id="Raac7417ae9624518" /><Relationship Type="http://schemas.openxmlformats.org/officeDocument/2006/relationships/notesSlide" Target="/ppt/notesSlides/notesSlide10.xml" Id="R5e5a8232141b41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d7f2f81db94fe3" /><Relationship Type="http://schemas.openxmlformats.org/officeDocument/2006/relationships/notesSlide" Target="/ppt/notesSlides/notesSlide11.xml" Id="R35f7032b711b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62A01-D43F-40EF-8E6C-4FC8A062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78339-922E-401D-999C-8BC59A27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3FE01-5B9E-49CE-BB4E-20B8FE1F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8529B-A125-46AC-AEA5-4E17FE20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4118E-23BD-4F51-8F52-6DA67829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36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C9B45-2280-4A75-BFB5-195F03B5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D9580-BE7C-4A20-BEF0-EDDF8A2A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5DE98-9C77-41E8-B59E-63AC9CF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장애 대응 Agent 개선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629056-97B3-439F-B9BC-68303742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시스템 상태를 확인하고 대응 절차를 안내하는 AI 서비스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6DCDE-1D30-492B-94F1-61471875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57875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buNone/>
              <a:def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광주 3반 G085 신동운</a:t>
            </a:r>
          </a:p>
        </p:txBody>
      </p:sp>
    </p:spTree>
    <p:extLst>
      <p:ext uri="{BB962C8B-B14F-4D97-AF65-F5344CB8AC3E}">
        <p14:creationId xmlns:p14="http://schemas.microsoft.com/office/powerpoint/2010/main" val="1044976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11A82-A152-41CC-80D0-E65079F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20B3E-30A9-4D1E-BBA1-797E5D0B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장애 상황을 입력하면 대응 절차를 안내합니다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4C8D8-CAFD-4FFA-9F8C-D2D5779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D551F-C800-4108-BB58-886A2C38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8587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예: “로그인이 느려요”  →  서비스 상태 조회  →  대응 절차 안내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216AE-1914-40ED-B8DB-BD369DC7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런북은 장애 대응 절차 문서입니다. 원본의 검색과 답변 과정을 개선했습니다.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15863-A792-4513-B033-84A246541954}"/>
              </a:ext>
            </a:extLst>
          </p:cNvPr>
          <p:cNvGraphicFramePr/>
          <p:nvPr/>
        </p:nvGraphicFramePr>
        <p:xfrm>
          <a:off xmlns:a="http://schemas.openxmlformats.org/drawingml/2006/main" x="533400" y="23812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143375"/>
                <a:gridCol w="4267200"/>
              </a:tblGrid>
              <a:tr h="46434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개선한 기능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원본의 문제 / 개선 목적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개선한 동작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 대응 문서 검색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질문의 단어에 의존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알림에 맞는 문서 검색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 근거 보고서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사실과 추정 구분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측정값, 가설, 조치 분리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 답변 검증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조건이 섞이는 오류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연결, 검사 후 재작성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 진행 상황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단계 확인 필요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대상별 조사 상태 표시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 전후 비교 평가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효과 확인 필요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질문으로 수치 비교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 조사 대상 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없이 임의 서비스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선택한 대상 조사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 일부 실패 대응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오류로 전체 응답 중단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성공한 결과는 유지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423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2DDE5-4CF6-4222-B4FA-7607ED3B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516C9-65FC-4E67-AB39-793DEE9C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실행 결과: 측정값과 원인 후보를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435B5-9499-4EAF-83E6-6C18941F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D377-898D-48DD-91F5-E48EE0DF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“로그인 응답이 느려요” 질문 후 사용자가 auth-service를 선택한 결과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8D9C10-96AD-4FA5-9961-41ED4DEFBA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c80c007ff418a"/>
          <a:stretch xmlns:a="http://schemas.openxmlformats.org/drawingml/2006/main"/>
        </p:blipFill>
        <p:spPr>
          <a:xfrm xmlns:a="http://schemas.openxmlformats.org/drawingml/2006/main">
            <a:off x="1575282" y="1809750"/>
            <a:ext cx="9041436" cy="4238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DAF78-D0F9-4AE6-9F43-168FF422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실제 GPT-4o mini 실행 화면 일부 확대. 시스템 상태는 실습용 모의 데이터</a:t>
            </a:r>
          </a:p>
        </p:txBody>
      </p:sp>
    </p:spTree>
    <p:extLst>
      <p:ext uri="{BB962C8B-B14F-4D97-AF65-F5344CB8AC3E}">
        <p14:creationId xmlns:p14="http://schemas.microsoft.com/office/powerpoint/2010/main" val="16955523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3F6E5-E9FE-45CD-8F94-109E7CEA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88192-7A77-4B96-B5B2-7D70987C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같은 30문항을 세 차례 비교한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466FF-9DC8-41F6-B581-90F81223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C292F-8B4D-4767-B0AD-DC817DEEC359}"/>
              </a:ext>
            </a:extLst>
          </p:cNvPr>
          <p:cNvGraphicFramePr/>
          <p:nvPr/>
        </p:nvGraphicFramePr>
        <p:xfrm>
          <a:off xmlns:a="http://schemas.openxmlformats.org/drawingml/2006/main" x="533400" y="147637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752725"/>
                <a:gridCol w="2752725"/>
              </a:tblGrid>
              <a:tr h="7143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GPT-4o mini로 비교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교수님 원본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반환, 매 회차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27/30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필요한 대응 문서 검색률¹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70.6~76.5%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대상이 모호할 때 확인, 5문항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0/5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5/5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5AB5D-A746-45F1-9C60-7C775BAF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반환한 측정값 393개와 조치 147개를 원문과 대조, 모두 일치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1EE25-695E-493D-9948-69DC9F77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생성 토큰 2.17~2.36배, 응답 시간이 매번 줄지는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4A888-7F7C-491C-BC8D-FE7DBEF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¹ 문서가 필요한 17문항의 재현율. 동일 입력, 모델, 240초 제한으로 3회 측정</a:t>
            </a:r>
          </a:p>
        </p:txBody>
      </p:sp>
    </p:spTree>
    <p:extLst>
      <p:ext uri="{BB962C8B-B14F-4D97-AF65-F5344CB8AC3E}">
        <p14:creationId xmlns:p14="http://schemas.microsoft.com/office/powerpoint/2010/main" val="16140225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9CC5FD-A986-4193-A3C3-3D095EBD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15B56-89E0-4684-8A1D-2108639B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Agent Graph: 답변 검사 후 다시 작성하는 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214CA-82D0-4EF0-85AE-8D1EEF7B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1FE08-43EB-4457-A525-A4AC5E18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추가 이유: 측정값이나 근거가 잘못된 답변을 바로 내보내지 않기 위해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0ED00-2314-4FE1-873F-33135046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추가한 검증 분기, agent/graph.py 224~225행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E62A5-41AF-4170-A1E0-AF41B2C5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1125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094DF-B64B-4DF2-94D4-531F436A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442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g.add_conditional_edges("write", lambda s: "write" if s["validation"]["status"] == "failed"</a:t>
            </a:r>
          </a:p>
          <a:p xmlns:a="http://schemas.openxmlformats.org/drawingml/2006/main">
            <a:pPr>
              <a:def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                    and s["validation_attempts"] &lt; 3 else "finish")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163252-DB27-41B3-8E9D-85A0C279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① write에서 답변 작성과 검사 실행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97C3-383F-4192-A3CD-5B0B1F8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② failed이면 write로 복귀, 총 작성 시도는 최대 3회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3819D-8A3D-4EBE-A29B-2CEF16C2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통과하거나 시도 한도에 도달하면 finish에서 결과와 상태 반환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86A9B-4579-441E-986D-29586F6A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112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전체 조사 순서: 계획, 상태 조회, 문서 검색, 답변 작성과 검사, 결과 반환</a:t>
            </a:r>
          </a:p>
        </p:txBody>
      </p:sp>
    </p:spTree>
    <p:extLst>
      <p:ext uri="{BB962C8B-B14F-4D97-AF65-F5344CB8AC3E}">
        <p14:creationId xmlns:p14="http://schemas.microsoft.com/office/powerpoint/2010/main" val="11697785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69411-1FEE-4BC7-A009-166B4ED1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8923B-76F6-40F4-89FD-70A6FB4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MCP: 검색 도구에 시스템 상태를 함께 전달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7F04E-7A0A-49FE-9BFB-9F8AE394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53F57-41BC-4128-821E-FAC079BF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수정 이유: 질문만 보내면 현재 장애와 다른 대응 문서를 고를 수 있음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2907B-A8E7-48C8-8B22-182C6B4D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기존 MCP 연결 활용, 검색 입력 보강, agent/graph.py 127~130행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50999-A4EB-4D2C-9985-2E08ACEA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1125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C3A6B0-0F27-4A0D-90B0-32C301C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4420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args = {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"query": state["query"], "system_name": obs["system_name"],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"monitoring_summary": obs, "top_k": 3}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result = await deps.mcp.call_tool("search_runbooks", args, server=server)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5DD34A-AEF1-4C39-89EA-C043FAB1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719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① query, system_name: 질문과 조사할 서비스 전달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B6575-13B1-43E4-95DF-F66CA0FC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② monitoring_summary: 방금 조회한 시스템 상태도 전달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E65B1-0175-497C-BD24-EC46A7F2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435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call_tool: 별도 도구 서버의 검색 함수를 실행해 결과 수신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3EADD-E875-4CE3-96BF-F3FA690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MCP는 Agent와 도구의 연결 규약. 도구 서버에서 RunbookIndex.search() 실행</a:t>
            </a:r>
          </a:p>
        </p:txBody>
      </p:sp>
    </p:spTree>
    <p:extLst>
      <p:ext uri="{BB962C8B-B14F-4D97-AF65-F5344CB8AC3E}">
        <p14:creationId xmlns:p14="http://schemas.microsoft.com/office/powerpoint/2010/main" val="1363654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1290E-443C-4462-B63B-21C0C7B1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CE0D2-82CD-4E51-887A-FE8C1021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RAG: 실제 알림에 맞는 대응 문서를 선택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61047-A6DE-474C-8F99-04F1FB40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496AA-D701-4235-A04E-2D321455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추가 이유: 단어가 비슷한 문서보다 현재 장애에 적용할 수 있는 문서가 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E3610-3EB5-424F-B6C5-058C85C9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새 검색 점수와 정렬, retrieval/index.py 112~114행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4314-9E42-44E1-9DE6-5A57D10D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1125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A5484-0ED7-4C86-A250-E5529038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44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score = scores[0] * .8 + scores[-1] * .2 if len(scores) == 2 else scores[0]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    ranked.append((score, doc))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ranked.sort(key=lambda pair: pair[0], reverse=True)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C0A58-F032-437E-BD6F-5B8BC044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적용 가능한 문서만 남기고, 문장 의미를 숫자 벡터로 비교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076A5-C8AC-47F8-A8E2-D10B0E6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815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② scores[0]은 알림, scores[-1]은 질문: 80%와 20% 반영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5C935-E9E8-4D21-A5D4-29AFB2ED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점수가 높은 문서부터 정렬, 기준을 통과한 최대 3개를 답변 근거로 제공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DCB6D-ABD9-4758-B873-93A46F2B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RAG는 문서를 찾아 답변 근거로 쓰는 방식. 관련 문서가 없으면 근거 부족 안내</a:t>
            </a:r>
          </a:p>
        </p:txBody>
      </p:sp>
    </p:spTree>
    <p:extLst>
      <p:ext uri="{BB962C8B-B14F-4D97-AF65-F5344CB8AC3E}">
        <p14:creationId xmlns:p14="http://schemas.microsoft.com/office/powerpoint/2010/main" val="1048614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F7029-D373-4EAF-BA8E-3D048ADE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72B07-1D4C-410A-A995-F09040F0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답변 검증: 조치와 적용 조건을 원문으로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81B2E7-138A-42E8-A01A-C695DAED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1E23A-0EDB-413E-986E-4B841F7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76350"/>
            <a:ext cx="1112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추가 이유: “미회복 시” 조치와 “정상화 후” 조치가 섞이는 문제 해결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61418-16BB-452E-A63F-C48F112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추가한 원문 연결, agent/graph.py 168~169행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1121F-058D-4694-95DF-7E0890C9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1125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DCF54-B605-4E21-9C50-F9F0F0A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107442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selection = NarrativeSelection.model_validate(narrative).model_dump()</a:t>
            </a:r>
          </a:p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rendered = materialize(selection, state["evidence"])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79154-8EC0-4F61-95CD-C6C2B8E7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① AI는 대응 문서에서 사용할 단계 번호를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9D63D-47D4-4AEA-9228-605DF5F7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43400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② materialize가 그 번호의 조건과 조치 원문을 함께 가져옴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1C4D8-3A0F-4317-8B8B-7960FDDA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29175"/>
            <a:ext cx="1112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③ 측정값과 근거를 검사, 실패하면 앞의 Graph 분기로 재작성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61A2C-52A1-43F8-9487-AE487428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1125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예: 5분 내 미회복 시 트래픽 분산 / 정상화 후 로그 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6687E-8CE6-4E4F-93E6-BE4687C3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자동 테스트 48개 통과. 향후에는 전체 절차의 단계 누락과 새 질문 평가 보완</a:t>
            </a:r>
          </a:p>
        </p:txBody>
      </p:sp>
    </p:spTree>
    <p:extLst>
      <p:ext uri="{BB962C8B-B14F-4D97-AF65-F5344CB8AC3E}">
        <p14:creationId xmlns:p14="http://schemas.microsoft.com/office/powerpoint/2010/main" val="110187952"/>
      </p:ext>
    </p:extLst>
  </p:cSld>
</p:sld>
</file>

<file path=ppt/slides/slide9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646E6-00D3-4EF2-8DC9-3410C770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03F21-C95E-48B1-972B-D57803BA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1, 로컬 모델(Ollama) 비교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374B3-3645-4F60-A9B8-EEF01F0C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4865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A665D-0FFB-447C-9A97-2804CBFDB53D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3238500"/>
                <a:gridCol w="2190750"/>
                <a:gridCol w="2933700"/>
              </a:tblGrid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/ 작성 모델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반환 원본 / 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 후 검증 실패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240초 초과 원본 / 개선 후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0.6B / 0.6B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28/30 / 21/30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/ 9건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0.6B / 8B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25/30 / 23/30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/ 7건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7B098-8A4A-469B-BA31-1F0511C5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9625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제출 기본 모델은 GPT-4o mini로 유지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C5A90-E530-4FDC-9F72-45D5A7CA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Ollama 0.40.6, CPU, 동일 30문항과 모델 파일로 원본과 개선 후 비교</a:t>
            </a:r>
          </a:p>
          <a:p xmlns:a="http://schemas.openxmlformats.org/drawingml/2006/main">
            <a: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검증 실패는 응답 반환에 포함. 두 구성 모두 대상 확인 5/5 처리</a:t>
            </a:r>
          </a:p>
        </p:txBody>
      </p:sp>
    </p:spTree>
    <p:extLst>
      <p:ext uri="{BB962C8B-B14F-4D97-AF65-F5344CB8AC3E}">
        <p14:creationId xmlns:p14="http://schemas.microsoft.com/office/powerpoint/2010/main" val="971572995"/>
      </p:ext>
    </p:extLst>
  </p:cSld>
</p:sld>
</file>

<file path=ppt/slides/slide10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C1D68-9CA3-4FB8-9F1B-3762E638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BA07C-487F-4553-8018-B583F09A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2, 조치 조건 보존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3D623-B930-42B0-94B9-AA1615F0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02685D-D613-49E5-89D2-C50DE969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AD4C42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8A907-3278-4562-BD85-D75785B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E2764-51E4-4396-B0B9-EC738E7D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9925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A3C17-8836-4D13-BDD8-2BEB5554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5238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BBA78-AFAC-4D0D-B4C1-4B650C03F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7417ae9624518"/>
          <a:srcRect xmlns:a="http://schemas.openxmlformats.org/drawingml/2006/main" l="6000" t="38500" r="6000" b="46000"/>
          <a:stretch xmlns:a="http://schemas.openxmlformats.org/drawingml/2006/main"/>
        </p:blipFill>
        <p:spPr>
          <a:xfrm xmlns:a="http://schemas.openxmlformats.org/drawingml/2006/main">
            <a:off x="533400" y="3143250"/>
            <a:ext cx="11125200" cy="1714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758A5-CB2E-4F9A-9297-E19534A0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48050"/>
            <a:ext cx="565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D70E2-BE4F-4A4E-A8E6-6BD75866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5657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09266-A6A2-4F5B-9C0D-2B3FAE21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F98500-4783-4540-85CA-B7C2DBE5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수정 전: 미회복 조건과 정상화 후 조치가 섞임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E00F2-C5AA-4D30-A045-27EC26DA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최종 제출본: 원문 단계의 조건과 조치를 함께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9308EC-962D-4779-BB55-AC93F3E4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모델은 문서의 단계를 선택하고, 서버가 조건과 조치 원문을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4F3F1-665F-4D18-A993-EEE6F3A4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4단계: 5분 내 미회복 시 분산 / 5단계: 정상화 후 로그 분석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98492-BDAB-4884-A5E4-4A872DEE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개선 후 실행 화면, 전체 절차 보충 질문. 1~5단계 원문과 조건 일치 확인</a:t>
            </a:r>
          </a:p>
        </p:txBody>
      </p:sp>
    </p:spTree>
    <p:extLst>
      <p:ext uri="{BB962C8B-B14F-4D97-AF65-F5344CB8AC3E}">
        <p14:creationId xmlns:p14="http://schemas.microsoft.com/office/powerpoint/2010/main" val="1667429481"/>
      </p:ext>
    </p:extLst>
  </p:cSld>
</p:sld>
</file>

<file path=ppt/slides/slide11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378F0-34B4-4D01-8F1A-528416C5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42B43"/>
                </a:solidFill>
                <a:latin typeface="Malgun Gothic"/>
                <a:ea typeface="Malgun Gothic"/>
                <a:cs typeface="Malgun Gothic"/>
              </a:rPr>
              <a:t>부록 3, 트러블슈팅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CB334-D8B3-4F0F-B334-795CCD1576D4}"/>
              </a:ext>
            </a:extLst>
          </p:cNvPr>
          <p:cNvGraphicFramePr/>
          <p:nvPr/>
        </p:nvGraphicFramePr>
        <p:xfrm>
          <a:off xmlns:a="http://schemas.openxmlformats.org/drawingml/2006/main" x="533400" y="1524000"/>
          <a:ext xmlns:a="http://schemas.openxmlformats.org/drawingml/2006/main" cx="11125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191125"/>
                <a:gridCol w="3648075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발견한 문제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수정한 방법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날짜를 서비스로 오인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날짜만 대상에서 제외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날짜 테스트 5개, 실모델 UI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대화 중 다른 작업 지연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동기 HTTP를 별도 스레드 실행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비동기 회귀 테스트 2개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실패 시 자원 잔류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실패와 취소에도 역순 정리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시작과 MCP 테스트 7개</a:t>
                      </a:r>
                    </a:p>
                  </a:txBody>
                  <a:tcPr marL="91440" marR="91440" marT="45720" marB="45720">
                    <a:solidFill>
                      <a:srgbClr val="EEF4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조치의 적용 조건 혼합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단계의 조건과 조치 연결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3회 측정, 조치 원문 147개 일치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B7E9C-4A1A-482E-B0CD-E50E833B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48275"/>
            <a:ext cx="1112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87F8C"/>
                </a:solidFill>
                <a:latin typeface="Malgun Gothic"/>
                <a:ea typeface="Malgun Gothic"/>
                <a:cs typeface="Malgun Gothic"/>
              </a:rPr>
              <a:t>수정 전 오류 재현과 수정 후 결과를 함께 보존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261B3-DE17-440A-981F-C04E247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57875"/>
            <a:ext cx="1112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동일 30문항은 회귀 비교. 날짜와 동시 처리 결함은 별도 테스트로 보완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03E19-7086-45DE-B555-ED27D97D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38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buNone/>
              <a:defRPr sz="105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buNone/>
              <a:def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476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3177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Slides>11</ap:Slides>
  <ap:Notes>0</ap:Notes>
  <ap:HiddenSlides>3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장애 대응 Agent 개선</dc:title>
  <dcterms:created xsi:type="dcterms:W3CDTF">2026-10-21T06:48:38.4540000Z</dcterms:created>
  <dcterms:modified xsi:type="dcterms:W3CDTF">2026-10-21T06:48:38.4540000Z</dcterms:modified>
</coreProperties>
</file>