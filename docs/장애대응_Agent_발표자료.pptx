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472ec199f04cdb" /><Relationship Type="http://schemas.openxmlformats.org/officeDocument/2006/relationships/extended-properties" Target="/docProps/app.xml" Id="R2258b357db3a4aa0" /><Relationship Type="http://schemas.openxmlformats.org/officeDocument/2006/relationships/officeDocument" Target="/ppt/presentation.xml" Id="Rb1bae50241c846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18118438774fb0"/>
  </p:sldMasterIdLst>
  <p:notesMasterIdLst>
    <p:notesMasterId xmlns:r="http://schemas.openxmlformats.org/officeDocument/2006/relationships" r:id="R1f1134e7d2a74afb"/>
  </p:notesMasterIdLst>
  <p:sldIdLst>
    <p:sldId xmlns:r="http://schemas.openxmlformats.org/officeDocument/2006/relationships" id="256" r:id="Raff80e1cf99848d0"/>
    <p:sldId xmlns:r="http://schemas.openxmlformats.org/officeDocument/2006/relationships" id="257" r:id="Rfbdad67535734cfd"/>
    <p:sldId xmlns:r="http://schemas.openxmlformats.org/officeDocument/2006/relationships" id="258" r:id="R48b2336d49744ec1"/>
    <p:sldId xmlns:r="http://schemas.openxmlformats.org/officeDocument/2006/relationships" id="259" r:id="Rd1b1033c1b3a45e5"/>
    <p:sldId xmlns:r="http://schemas.openxmlformats.org/officeDocument/2006/relationships" id="260" r:id="R8c5299694b3c4238"/>
    <p:sldId xmlns:r="http://schemas.openxmlformats.org/officeDocument/2006/relationships" id="261" r:id="R7fcd5db4925048e4"/>
    <p:sldId xmlns:r="http://schemas.openxmlformats.org/officeDocument/2006/relationships" id="262" r:id="Rb8fce51fa68d4287"/>
    <p:sldId xmlns:r="http://schemas.openxmlformats.org/officeDocument/2006/relationships" id="263" r:id="R3422942918d34e63"/>
    <p:sldId xmlns:r="http://schemas.openxmlformats.org/officeDocument/2006/relationships" id="264" r:id="Rec6d54dcba694c9f"/>
    <p:sldId xmlns:r="http://schemas.openxmlformats.org/officeDocument/2006/relationships" id="265" r:id="R2b958ade34434468"/>
    <p:sldId xmlns:r="http://schemas.openxmlformats.org/officeDocument/2006/relationships" id="266" r:id="R31f91ba3a8784f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f2506afce9433e" /><Relationship Type="http://schemas.openxmlformats.org/officeDocument/2006/relationships/slideMaster" Target="/ppt/slideMasters/slideMaster1.xml" Id="R5718118438774fb0" /><Relationship Type="http://schemas.openxmlformats.org/officeDocument/2006/relationships/notesMaster" Target="/ppt/notesMasters/notesMaster1.xml" Id="R1f1134e7d2a74afb" /><Relationship Type="http://schemas.openxmlformats.org/officeDocument/2006/relationships/presProps" Target="/ppt/presProps.xml" Id="R54cba4fe651149be" /><Relationship Type="http://schemas.openxmlformats.org/officeDocument/2006/relationships/tableStyles" Target="/ppt/tableStyles.xml" Id="Rc4194a0321fd42fe" /><Relationship Type="http://schemas.openxmlformats.org/officeDocument/2006/relationships/slide" Target="/ppt/slides/slide1.xml" Id="Raff80e1cf99848d0" /><Relationship Type="http://schemas.openxmlformats.org/officeDocument/2006/relationships/slide" Target="/ppt/slides/slide2.xml" Id="Rfbdad67535734cfd" /><Relationship Type="http://schemas.openxmlformats.org/officeDocument/2006/relationships/slide" Target="/ppt/slides/slide3.xml" Id="R48b2336d49744ec1" /><Relationship Type="http://schemas.openxmlformats.org/officeDocument/2006/relationships/slide" Target="/ppt/slides/slide4.xml" Id="Rd1b1033c1b3a45e5" /><Relationship Type="http://schemas.openxmlformats.org/officeDocument/2006/relationships/slide" Target="/ppt/slides/slide5.xml" Id="R8c5299694b3c4238" /><Relationship Type="http://schemas.openxmlformats.org/officeDocument/2006/relationships/slide" Target="/ppt/slides/slide6.xml" Id="R7fcd5db4925048e4" /><Relationship Type="http://schemas.openxmlformats.org/officeDocument/2006/relationships/slide" Target="/ppt/slides/slide7.xml" Id="Rb8fce51fa68d4287" /><Relationship Type="http://schemas.openxmlformats.org/officeDocument/2006/relationships/slide" Target="/ppt/slides/slide8.xml" Id="R3422942918d34e63" /><Relationship Type="http://schemas.openxmlformats.org/officeDocument/2006/relationships/slide" Target="/ppt/slides/slide9.xml" Id="Rec6d54dcba694c9f" /><Relationship Type="http://schemas.openxmlformats.org/officeDocument/2006/relationships/slide" Target="/ppt/slides/slide10.xml" Id="R2b958ade34434468" /><Relationship Type="http://schemas.openxmlformats.org/officeDocument/2006/relationships/slide" Target="/ppt/slides/slide11.xml" Id="R31f91ba3a8784f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eba107c7fe4c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2f97111f6243b6" /><Relationship Type="http://schemas.openxmlformats.org/officeDocument/2006/relationships/notesMaster" Target="/ppt/notesMasters/notesMaster1.xml" Id="R86a5b23de82247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701a4430f448d4" /><Relationship Type="http://schemas.openxmlformats.org/officeDocument/2006/relationships/notesMaster" Target="/ppt/notesMasters/notesMaster1.xml" Id="Rc2d3f73568554a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cb630cb1fb4337" /><Relationship Type="http://schemas.openxmlformats.org/officeDocument/2006/relationships/notesMaster" Target="/ppt/notesMasters/notesMaster1.xml" Id="Radf77a89a6fe4e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c11c832b3047d7" /><Relationship Type="http://schemas.openxmlformats.org/officeDocument/2006/relationships/notesMaster" Target="/ppt/notesMasters/notesMaster1.xml" Id="R3f7fce93eea04c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c1e186cc6942e6" /><Relationship Type="http://schemas.openxmlformats.org/officeDocument/2006/relationships/notesMaster" Target="/ppt/notesMasters/notesMaster1.xml" Id="R38c95df4e0ae44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18f627dbec4460" /><Relationship Type="http://schemas.openxmlformats.org/officeDocument/2006/relationships/notesMaster" Target="/ppt/notesMasters/notesMaster1.xml" Id="Rc2c88f90086941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f1c8f257244636" /><Relationship Type="http://schemas.openxmlformats.org/officeDocument/2006/relationships/notesMaster" Target="/ppt/notesMasters/notesMaster1.xml" Id="Rd579403c6b6543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78a352380943cc" /><Relationship Type="http://schemas.openxmlformats.org/officeDocument/2006/relationships/notesMaster" Target="/ppt/notesMasters/notesMaster1.xml" Id="Rd26ed2234e0c4e5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7dc062806cf4b00" /><Relationship Type="http://schemas.openxmlformats.org/officeDocument/2006/relationships/notesMaster" Target="/ppt/notesMasters/notesMaster1.xml" Id="R0b0e12205680431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df545267b624e20" /><Relationship Type="http://schemas.openxmlformats.org/officeDocument/2006/relationships/notesMaster" Target="/ppt/notesMasters/notesMaster1.xml" Id="R2a16c41ae971427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de7f5c261cd4686" /><Relationship Type="http://schemas.openxmlformats.org/officeDocument/2006/relationships/notesMaster" Target="/ppt/notesMasters/notesMaster1.xml" Id="R85e6647cbc204e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f478ab7582438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6a25a15aab4ee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042e36c4aa4e7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998f64ffad452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3ea54c586a4b6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e7e518661e46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057248-4B50-40D7-BDD6-B3A95C662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8F15EEC-9132-4B42-A418-C5E1E98FFF2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5202085-612C-4459-AE39-287931D3CA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933087-D09D-4266-BFF0-D556C8DC22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D28FB80-057B-4CA5-8520-883636272F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84AE23B-C891-451B-8AB2-9C1085F411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966477A-EE85-4BAC-A937-10D1F63236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CA973EE-30ED-4664-95BB-FC47B864FAA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33729FF-BD5F-4835-A895-D591E7156F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FDC5545-91C7-47BD-93E7-7CE9CFA379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f857273bd849a5" /><Relationship Type="http://schemas.openxmlformats.org/officeDocument/2006/relationships/slideLayout" Target="/ppt/slideLayouts/slideLayout1.xml" Id="Rbe418e8411fa4233" /><Relationship Type="http://schemas.openxmlformats.org/officeDocument/2006/relationships/slideLayout" Target="/ppt/slideLayouts/slideLayout2.xml" Id="Rd2c7b1347abf4082" /><Relationship Type="http://schemas.openxmlformats.org/officeDocument/2006/relationships/slideLayout" Target="/ppt/slideLayouts/slideLayout3.xml" Id="Rd246d2278f604517" /><Relationship Type="http://schemas.openxmlformats.org/officeDocument/2006/relationships/slideLayout" Target="/ppt/slideLayouts/slideLayout4.xml" Id="R3e8787d20ebd4817" /><Relationship Type="http://schemas.openxmlformats.org/officeDocument/2006/relationships/slideLayout" Target="/ppt/slideLayouts/slideLayout5.xml" Id="Rfd3b36695623456c" /><Relationship Type="http://schemas.openxmlformats.org/officeDocument/2006/relationships/slideLayout" Target="/ppt/slideLayouts/slideLayout6.xml" Id="Rb07cf4a0366346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418e8411fa4233"/>
    <p:sldLayoutId xmlns:r="http://schemas.openxmlformats.org/officeDocument/2006/relationships" id="2147483650" r:id="Rd2c7b1347abf4082"/>
    <p:sldLayoutId xmlns:r="http://schemas.openxmlformats.org/officeDocument/2006/relationships" id="2147483651" r:id="Rd246d2278f604517"/>
    <p:sldLayoutId xmlns:r="http://schemas.openxmlformats.org/officeDocument/2006/relationships" id="2147483652" r:id="R3e8787d20ebd4817"/>
    <p:sldLayoutId xmlns:r="http://schemas.openxmlformats.org/officeDocument/2006/relationships" id="2147483653" r:id="Rfd3b36695623456c"/>
    <p:sldLayoutId xmlns:r="http://schemas.openxmlformats.org/officeDocument/2006/relationships" id="2147483654" r:id="Rb07cf4a0366346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a8460d44694db8" /><Relationship Type="http://schemas.openxmlformats.org/officeDocument/2006/relationships/notesSlide" Target="/ppt/notesSlides/notesSlide1.xml" Id="R99ddfed2809446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2814c55b3f43c0" /><Relationship Type="http://schemas.openxmlformats.org/officeDocument/2006/relationships/notesSlide" Target="/ppt/notesSlides/notesSlide2.xml" Id="R56e952b6db5048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80c534bd1f4cef" /><Relationship Type="http://schemas.openxmlformats.org/officeDocument/2006/relationships/image" Target="/ppt/media/image.png" Id="R95c3f0f7978c4fb2" /><Relationship Type="http://schemas.openxmlformats.org/officeDocument/2006/relationships/notesSlide" Target="/ppt/notesSlides/notesSlide3.xml" Id="Read96d9bb78d47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7834623e594bf8" /><Relationship Type="http://schemas.openxmlformats.org/officeDocument/2006/relationships/notesSlide" Target="/ppt/notesSlides/notesSlide4.xml" Id="R29c40b183f3848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e210a33f5d4d56" /><Relationship Type="http://schemas.openxmlformats.org/officeDocument/2006/relationships/notesSlide" Target="/ppt/notesSlides/notesSlide5.xml" Id="Rf87d760c000e49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214ca3c1e144e5" /><Relationship Type="http://schemas.openxmlformats.org/officeDocument/2006/relationships/notesSlide" Target="/ppt/notesSlides/notesSlide6.xml" Id="R64282faf35de43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87d0aa2c004efe" /><Relationship Type="http://schemas.openxmlformats.org/officeDocument/2006/relationships/notesSlide" Target="/ppt/notesSlides/notesSlide7.xml" Id="Rbcb4950a93aa4d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5a565e1e824ac9" /><Relationship Type="http://schemas.openxmlformats.org/officeDocument/2006/relationships/notesSlide" Target="/ppt/notesSlides/notesSlide8.xml" Id="R816e99dc932e4a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a45f24acd1483b" /><Relationship Type="http://schemas.openxmlformats.org/officeDocument/2006/relationships/notesSlide" Target="/ppt/notesSlides/notesSlide9.xml" Id="R1009864b3b3945d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5449fd66314a85" /><Relationship Type="http://schemas.openxmlformats.org/officeDocument/2006/relationships/image" Target="/ppt/media/image.jpeg" Id="R07e40dba1a994a23" /><Relationship Type="http://schemas.openxmlformats.org/officeDocument/2006/relationships/notesSlide" Target="/ppt/notesSlides/notesSlide10.xml" Id="R8dfada1e90ed455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c0f7efe76c4b3f" /><Relationship Type="http://schemas.openxmlformats.org/officeDocument/2006/relationships/notesSlide" Target="/ppt/notesSlides/notesSlide11.xml" Id="R7dbd7df115054a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F62A01-D43F-40EF-8E6C-4FC8A062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78339-922E-401D-999C-8BC59A27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33FE01-5B9E-49CE-BB4E-20B8FE1F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4389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buNone/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buNone/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buNone/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buNone/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buNone/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buNone/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buNone/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buNone/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buNone/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buNone/>
              <a:defRPr sz="12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98529B-A125-46AC-AEA5-4E17FE20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8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44118E-23BD-4F51-8F52-6DA67829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33625"/>
            <a:ext cx="9525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367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67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67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67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67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67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67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67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67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367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CC9B45-2280-4A75-BFB5-195F03B5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8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2D9580-BE7C-4A20-BEF0-EDDF8A2A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293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F5DE98-9C77-41E8-B59E-63AC9CF6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43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buNone/>
              <a:defRPr sz="43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buNone/>
              <a:defRPr sz="43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buNone/>
              <a:defRPr sz="43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buNone/>
              <a:defRPr sz="43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buNone/>
              <a:defRPr sz="43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buNone/>
              <a:defRPr sz="43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buNone/>
              <a:defRPr sz="43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buNone/>
              <a:defRPr sz="43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buNone/>
              <a:defRPr sz="43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buNone/>
              <a:defRPr sz="43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장애 대응 Agent 개선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629056-97B3-439F-B9BC-68303742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52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buNone/>
              <a:defRPr sz="21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buNone/>
              <a:defRPr sz="21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buNone/>
              <a:defRPr sz="21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buNone/>
              <a:defRPr sz="21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buNone/>
              <a:defRPr sz="21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buNone/>
              <a:defRPr sz="21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buNone/>
              <a:defRPr sz="21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buNone/>
              <a:defRPr sz="21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buNone/>
              <a:defRPr sz="21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buNone/>
              <a:defRPr sz="21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>시스템 상태를 확인하고 대응 절차를 안내하는 AI 서비스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06DCDE-1D30-492B-94F1-61471875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857875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buNone/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buNone/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buNone/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buNone/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buNone/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buNone/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buNone/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buNone/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buNone/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buNone/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광주 3반 G085 신동운</a:t>
            </a:r>
          </a:p>
        </p:txBody>
      </p:sp>
    </p:spTree>
    <p:extLst>
      <p:ext uri="{BB962C8B-B14F-4D97-AF65-F5344CB8AC3E}">
        <p14:creationId xmlns:p14="http://schemas.microsoft.com/office/powerpoint/2010/main" val="10449763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DF02F5-FB69-4025-8181-B8D51C92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983CE2-0914-4ADD-B276-0B51FF72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장애 상황을 입력하면 대응 절차를 안내합니다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DCBE46-5C3F-490A-B76B-4DB73508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4865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3FE96D-AA97-4ECB-91B4-045D64C2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85875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예: “로그인이 느려요”  →  서비스 상태 조회  →  대응 절차 안내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5F1FF7-FB03-46BB-9FF8-AF9500F6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>런북은 장애 대응 절차 문서입니다. 원본의 검색과 답변 과정을 개선했습니다.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D77185-64C4-478D-A204-054CFB90ED59}"/>
              </a:ext>
            </a:extLst>
          </p:cNvPr>
          <p:cNvGraphicFramePr/>
          <p:nvPr/>
        </p:nvGraphicFramePr>
        <p:xfrm>
          <a:off xmlns:a="http://schemas.openxmlformats.org/drawingml/2006/main" x="533400" y="2381250"/>
          <a:ext xmlns:a="http://schemas.openxmlformats.org/drawingml/2006/main" cx="111252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4143375"/>
                <a:gridCol w="4267200"/>
              </a:tblGrid>
              <a:tr h="464344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개선한 기능</a:t>
                      </a:r>
                    </a:p>
                  </a:txBody>
                  <a:tcPr marL="91440" marR="91440" marT="45720" marB="45720">
                    <a:solidFill>
                      <a:srgbClr val="14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원본의 문제 / 개선 목적</a:t>
                      </a:r>
                    </a:p>
                  </a:txBody>
                  <a:tcPr marL="91440" marR="91440" marT="45720" marB="45720">
                    <a:solidFill>
                      <a:srgbClr val="14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개선한 동작</a:t>
                      </a:r>
                    </a:p>
                  </a:txBody>
                  <a:tcPr marL="91440" marR="91440" marT="45720" marB="45720">
                    <a:solidFill>
                      <a:srgbClr val="142B43"/>
                    </a:solidFill>
                  </a:tcPr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 대응 문서 검색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질문의 단어에 의존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알림에 맞는 문서 검색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 근거 보고서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사실과 추정 구분 필요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측정값, 가설, 조치 분리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 답변 검증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 조건이 섞이는 오류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원문 연결, 검사 후 재작성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4. 진행 상황 표시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단계 확인 필요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대상별 조사 상태 표시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5. 전후 비교 평가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개선 효과 확인 필요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질문으로 수치 비교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6. 조사 대상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없이 임의 서비스 선택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사용자가 선택한 대상 조사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7. 일부 실패 대응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일부 오류로 전체 응답 중단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성공한 결과는 유지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4231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663243-0CC8-478A-B1CE-467021E0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1928C7-ADC1-4D00-9E9A-0B241A3F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실행 결과: 측정값과 원인 후보를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CC2B83-D94B-4C19-82F9-382B6320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4865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F4A449-91D1-4E4B-83CB-C21CB598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“로그인 응답이 느려요” 질문 후 사용자가 auth-service를 선택한 결과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E88EFA-F586-461A-9CBA-CCBD92F4EE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c3f0f7978c4fb2"/>
          <a:stretch xmlns:a="http://schemas.openxmlformats.org/drawingml/2006/main"/>
        </p:blipFill>
        <p:spPr>
          <a:xfrm xmlns:a="http://schemas.openxmlformats.org/drawingml/2006/main">
            <a:off x="1575282" y="1809750"/>
            <a:ext cx="9041436" cy="4238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DD7824-B526-4040-82F4-E0DCB6F1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150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>실제 GPT-4o mini 실행 화면 일부 확대. 시스템 상태는 실습용 모의 데이터</a:t>
            </a:r>
          </a:p>
        </p:txBody>
      </p:sp>
    </p:spTree>
    <p:extLst>
      <p:ext uri="{BB962C8B-B14F-4D97-AF65-F5344CB8AC3E}">
        <p14:creationId xmlns:p14="http://schemas.microsoft.com/office/powerpoint/2010/main" val="16955523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99C9C6-0591-43E6-BEAF-58D4F1A8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CF18A5-6775-4033-AB93-61ACBAF8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같은 30문항을 세 차례 비교한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5D97C8-4DDE-4F82-9345-4B1E7222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4865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F8EEBD-4684-49A1-9B55-50918150EB51}"/>
              </a:ext>
            </a:extLst>
          </p:cNvPr>
          <p:cNvGraphicFramePr/>
          <p:nvPr/>
        </p:nvGraphicFramePr>
        <p:xfrm>
          <a:off xmlns:a="http://schemas.openxmlformats.org/drawingml/2006/main" x="533400" y="1476375"/>
          <a:ext xmlns:a="http://schemas.openxmlformats.org/drawingml/2006/main" cx="111252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619750"/>
                <a:gridCol w="2752725"/>
                <a:gridCol w="2752725"/>
              </a:tblGrid>
              <a:tr h="71437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GPT-4o mini로 비교</a:t>
                      </a:r>
                    </a:p>
                  </a:txBody>
                  <a:tcPr marL="91440" marR="91440" marT="45720" marB="45720">
                    <a:solidFill>
                      <a:srgbClr val="14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교수님 원본</a:t>
                      </a:r>
                    </a:p>
                  </a:txBody>
                  <a:tcPr marL="91440" marR="91440" marT="45720" marB="45720">
                    <a:solidFill>
                      <a:srgbClr val="14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개선 후</a:t>
                      </a:r>
                    </a:p>
                  </a:txBody>
                  <a:tcPr marL="91440" marR="91440" marT="45720" marB="45720">
                    <a:solidFill>
                      <a:srgbClr val="142B4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응답 반환, 매 회차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27/30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30/30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필요한 대응 문서 검색률¹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70.6~76.5%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대상이 모호할 때 확인, 5문항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0/5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5/5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724ADB-A581-438B-A3CE-8BE3F9CD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0"/>
            <a:ext cx="1112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반환한 측정값 393개와 조치 147개를 원문과 대조, 모두 일치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73AD3A-D3CC-41F2-87CE-4047943F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생성 토큰 2.17~2.36배, 응답 시간이 매번 줄지는 않음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50BD54-F645-4DE0-9779-1E12D60A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112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>¹ 문서가 필요한 17문항의 재현율. 동일 입력, 모델, 240초 제한으로 3회 측정</a:t>
            </a:r>
          </a:p>
        </p:txBody>
      </p:sp>
    </p:spTree>
    <p:extLst>
      <p:ext uri="{BB962C8B-B14F-4D97-AF65-F5344CB8AC3E}">
        <p14:creationId xmlns:p14="http://schemas.microsoft.com/office/powerpoint/2010/main" val="16140225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25FBA6-87A4-4ECF-A617-ECF73FA4B60D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667875" y="361950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476"/>
            </a:solidFill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C9DEDA-42BB-4A4F-9E97-75C8EE31BE34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762875" y="361950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476"/>
            </a:solidFill>
            <a:tailEnd type="triangle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93ED86-F69D-4815-A785-D2A32F3DD7C0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953125" y="361950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476"/>
            </a:solidFill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DB7917-DA76-40D7-AEAA-4DA8CAC7DB67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143375" y="361950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476"/>
            </a:solidFill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27495A-9B37-448A-8A97-AB53A6939E05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343025" y="3048000"/>
            <a:ext cx="1419225" cy="571500"/>
          </a:xfrm>
          <a:prstGeom xmlns:a="http://schemas.openxmlformats.org/drawingml/2006/main" prst="bentConnector5">
            <a:avLst>
              <a:gd name="adj1" fmla="val 0"/>
              <a:gd name="adj2" fmla="val 40000"/>
              <a:gd name="adj3" fmla="val 83893"/>
            </a:avLst>
          </a:prstGeom>
          <a:ln xmlns:a="http://schemas.openxmlformats.org/drawingml/2006/main" w="19050">
            <a:solidFill>
              <a:srgbClr val="536476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C7A142-C8B7-40F8-8B04-EEFD5D70494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152650" y="2690813"/>
            <a:ext cx="609600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87F8C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8DE36B-A5E5-4795-BC01-0CC9EE6C13D4}"/>
              </a:ext>
            </a:extLst>
          </p:cNvPr>
          <p:cNvCxnSpPr>
            <a:stCxn xmlns:a="http://schemas.openxmlformats.org/drawingml/2006/main" id="5" idx="0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1343025" y="2071688"/>
            <a:ext cx="1419225" cy="261938"/>
          </a:xfrm>
          <a:prstGeom xmlns:a="http://schemas.openxmlformats.org/drawingml/2006/main" prst="bentConnector5">
            <a:avLst>
              <a:gd name="adj1" fmla="val 0"/>
              <a:gd name="adj2" fmla="val 87273"/>
              <a:gd name="adj3" fmla="val 83893"/>
            </a:avLst>
          </a:prstGeom>
          <a:ln xmlns:a="http://schemas.openxmlformats.org/drawingml/2006/main" w="19050">
            <a:solidFill>
              <a:srgbClr val="536476"/>
            </a:solidFill>
            <a:tailEnd type="triangle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FD5A3A-F00E-4E69-A525-12152F31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57F58-28B9-41A1-A9E5-18AE23F5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Agent Graph: 대상 확인부터 검증까지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185BD0-7A0E-443B-A1C5-032B2C7F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4865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7B335F-045A-4C4A-9AE2-18363F76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대상이 불분명하면 먼저 확인, 잘못된 답변은 검사 후 재작성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AC40F7-1B50-4B7D-A29F-82D2AF66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33625"/>
            <a:ext cx="1619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4288">
            <a:solidFill>
              <a:srgbClr val="A7B4C0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질문 분류</a:t>
            </a:r>
          </a:p>
          <a:p xmlns:a="http://schemas.openxmlformats.org/drawingml/2006/main">
            <a: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route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B79E55-E352-443C-AA3B-BECD31E1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62125"/>
            <a:ext cx="2190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4288">
            <a:solidFill>
              <a:srgbClr val="A7B4C0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일반 대화 chat</a:t>
            </a:r>
          </a:p>
          <a:p xmlns:a="http://schemas.openxmlformats.org/drawingml/2006/main">
            <a: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답변 후 종료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7DD419-9277-4480-81F8-45F4C11E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24125"/>
            <a:ext cx="3810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2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① 대상 확인 요청</a:t>
            </a:r>
          </a:p>
          <a:p xmlns:a="http://schemas.openxmlformats.org/drawingml/2006/main">
            <a: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사용자 선택 후 새 요청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64CDE8-D30A-4221-9629-5CCC05E4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86125"/>
            <a:ext cx="1381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4288">
            <a:solidFill>
              <a:srgbClr val="A7B4C0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계획</a:t>
            </a:r>
          </a:p>
          <a:p xmlns:a="http://schemas.openxmlformats.org/drawingml/2006/main">
            <a: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plan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9C49DD-97D3-44FE-B19C-04B8A6AF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86125"/>
            <a:ext cx="1381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4288">
            <a:solidFill>
              <a:srgbClr val="A7B4C0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상태 조회</a:t>
            </a:r>
          </a:p>
          <a:p xmlns:a="http://schemas.openxmlformats.org/drawingml/2006/main">
            <a: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monitor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901A99-8C63-4E3B-B259-5DEC3F90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86125"/>
            <a:ext cx="1381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2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② 문서 검색</a:t>
            </a:r>
          </a:p>
          <a:p xmlns:a="http://schemas.openxmlformats.org/drawingml/2006/main">
            <a: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retrieve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1F3FF2-BFCC-49C7-A461-899026B9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86125"/>
            <a:ext cx="1476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2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③ 작성, 검사</a:t>
            </a:r>
          </a:p>
          <a:p xmlns:a="http://schemas.openxmlformats.org/drawingml/2006/main">
            <a: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write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52F311-3F8B-44F0-8AB3-8CCCDD4E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86125"/>
            <a:ext cx="1571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4288">
            <a:solidFill>
              <a:srgbClr val="A7B4C0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결과 반환</a:t>
            </a:r>
          </a:p>
          <a:p xmlns:a="http://schemas.openxmlformats.org/drawingml/2006/main">
            <a: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finish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109FBD-09A0-47DC-83D9-D73ACBE4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2669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검사 실패, 작성 3회 미만이면 재작성</a:t>
            </a:r>
          </a:p>
        </p:txBody>
      </p: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2F6E59-B51D-4BF0-9AE7-8B70089A8B17}"/>
              </a:ext>
            </a:extLst>
          </p:cNvPr>
          <p:cNvCxnSpPr/>
          <p:nvPr/>
        </p:nvCxnSpPr>
        <p:spPr>
          <a:xfrm xmlns:a="http://schemas.openxmlformats.org/drawingml/2006/main">
            <a:off x="9334500" y="2857500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F8C"/>
            </a:solidFill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EBF3D0-44B3-437C-9519-BDB6F41C7736}"/>
              </a:ext>
            </a:extLst>
          </p:cNvPr>
          <p:cNvCxnSpPr/>
          <p:nvPr/>
        </p:nvCxnSpPr>
        <p:spPr>
          <a:xfrm xmlns:a="http://schemas.openxmlformats.org/drawingml/2006/main">
            <a:off x="8572500" y="28575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F8C"/>
            </a:solidFill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4AE327-D221-426D-8339-4EA00D2C8B13}"/>
              </a:ext>
            </a:extLst>
          </p:cNvPr>
          <p:cNvCxnSpPr/>
          <p:nvPr/>
        </p:nvCxnSpPr>
        <p:spPr>
          <a:xfrm xmlns:a="http://schemas.openxmlformats.org/drawingml/2006/main">
            <a:off x="8572500" y="2857500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F8C"/>
            </a:solidFill>
            <a:tailEnd type="triangle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CB4922-6DBB-4EFF-A16B-0FE20882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71950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① 대상 임의 선택 방지   ② 관측 기반 검색   ③ 원문 연결, 검증과 재작성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836DDD-7122-4C02-A7BC-9765EFE6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9580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>③ 실제 분기 코드, agent/graph.py 224~225행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9347B5-5CEA-48E0-BA92-716E1E46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1125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29F7C0-35B2-4922-B8E6-E00DCCEC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10744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g.add_conditional_edges("write", lambda s: "write" if s["validation"]["status"] == "failed"</a:t>
            </a:r>
          </a:p>
          <a:p xmlns:a="http://schemas.openxmlformats.org/drawingml/2006/main">
            <a:pPr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                        and s["validation_attempts"] &lt; 3 else "finish")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F5902F-6615-4ABE-AF9A-B1E65059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48375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>검사는 write 내부에서 수행. 총 3회 실패하면 finish에서 사실과 실패 안내만 표시</a:t>
            </a:r>
          </a:p>
        </p:txBody>
      </p:sp>
    </p:spTree>
    <p:extLst>
      <p:ext uri="{BB962C8B-B14F-4D97-AF65-F5344CB8AC3E}">
        <p14:creationId xmlns:p14="http://schemas.microsoft.com/office/powerpoint/2010/main" val="11697785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C5F563-832F-4EA6-A964-1A97240116A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381875" y="2595563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476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B52738-9EA2-44BF-8266-D7ED048547D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248025" y="2595563"/>
            <a:ext cx="1228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476"/>
            </a:solidFill>
            <a:tailEnd type="triangle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CD1BB7-5A0F-41DF-A39C-7DBDFA1B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1414BB-D63F-4661-AA0E-AEE35339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MCP: 조사 흐름과 도구 서버의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6E37C9-DB56-489D-A1E4-43571316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4865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EB84CE-D56D-482F-A1D5-582D1CA2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기존 stdio 연결을 활용하고, 검색에 현재 관측값을 함께 전달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0BC380-E0D3-4C10-82A1-F052EB00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27146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4288">
            <a:solidFill>
              <a:srgbClr val="A7B4C0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조사 Agent</a:t>
            </a:r>
          </a:p>
          <a:p xmlns:a="http://schemas.openxmlformats.org/drawingml/2006/main">
            <a: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agent/graph.py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3E01F9-9DF4-443B-909B-55798578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29051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4288">
            <a:solidFill>
              <a:srgbClr val="A7B4C0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MCP 클라이언트</a:t>
            </a:r>
          </a:p>
          <a:p xmlns:a="http://schemas.openxmlformats.org/drawingml/2006/main">
            <a: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agent/mcp_client.py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447137-2BC4-433E-ABF0-94EC8CC9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3048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4288">
            <a:solidFill>
              <a:srgbClr val="A7B4C0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별도 도구 서버</a:t>
            </a:r>
          </a:p>
          <a:p xmlns:a="http://schemas.openxmlformats.org/drawingml/2006/main">
            <a: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mcp_server.py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C59024-80FD-403B-A864-ABC4CE02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8383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>도구 이름과 입력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EE24F3-2420-4604-8AED-B81301A1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8383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>stdio 통신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E481C5-A486-48EB-8489-16071105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76600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① 상태 조회: get_monitoring_status     ② 검색: search_runbooks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F62016-168D-4907-90E6-4F5A2D69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95700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>서버가 검색 결과를 반환하면 Agent가 보고서 근거로 사용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42A0A6-F694-4EE9-97D4-AC272716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67175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>② 검색 입력 보강, agent/graph.py 127~130행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648D80-992D-428F-B075-64F37B9D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9125"/>
            <a:ext cx="11125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DE3142-081D-4F2B-9058-0CC558A6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107442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args = {</a:t>
            </a:r>
          </a:p>
          <a:p xmlns:a="http://schemas.openxmlformats.org/drawingml/2006/main">
            <a:pPr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    "query": state["query"], "system_name": obs["system_name"],</a:t>
            </a:r>
          </a:p>
          <a:p xmlns:a="http://schemas.openxmlformats.org/drawingml/2006/main">
            <a:pPr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    "monitoring_summary": obs, "top_k": 3}</a:t>
            </a:r>
          </a:p>
          <a:p xmlns:a="http://schemas.openxmlformats.org/drawingml/2006/main">
            <a:pPr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result = await deps.mcp.call_tool("search_runbooks", args, server=server)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F9775C-2167-4CAF-AC9A-804DD71D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monitoring_summary에 조회 결과 추가: 질문 표현만으로 다른 장애 문서를 고르는 문제 보완</a:t>
            </a:r>
          </a:p>
        </p:txBody>
      </p:sp>
    </p:spTree>
    <p:extLst>
      <p:ext uri="{BB962C8B-B14F-4D97-AF65-F5344CB8AC3E}">
        <p14:creationId xmlns:p14="http://schemas.microsoft.com/office/powerpoint/2010/main" val="13636546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1E767D-C994-4B56-A42E-599329059819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562975" y="26193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476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02236B-2C0D-46B3-8DCC-E0303DD6EFF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715000" y="26193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476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16CE4C-AE3C-4A20-960A-9084F1EE354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867025" y="26193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476"/>
            </a:solidFill>
            <a:tailEnd type="triangl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CFBB55-2D68-4161-9479-8994E74A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D223F6-E578-43BC-A323-B98A15A7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RAG: 알림에 맞는 문서를 답변 근거로 전달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6C8E3F-A168-41FF-BF88-59AB44C6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4865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C9FEE-8926-49F4-AD8A-42D99A6A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새 검색 과정: 적용 조건을 먼저 확인하고, 의미가 가까운 문서를 선택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91DF17-BA45-4EF2-ACDC-903B7C44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2333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4288">
            <a:solidFill>
              <a:srgbClr val="A7B4C0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① 관측 알림</a:t>
            </a:r>
          </a:p>
          <a:p xmlns:a="http://schemas.openxmlformats.org/drawingml/2006/main">
            <a:pPr algn="ctr">
              <a:def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사용자 질문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D532FB-0D0A-459C-88E1-7192E142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90750"/>
            <a:ext cx="2333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2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② 적용 조건 필터</a:t>
            </a:r>
          </a:p>
          <a:p xmlns:a="http://schemas.openxmlformats.org/drawingml/2006/main">
            <a: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런북 후보 선별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A81385-6BFD-4D17-96F9-DBB6A731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90750"/>
            <a:ext cx="2333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2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③ 의미 유사도</a:t>
            </a:r>
          </a:p>
          <a:p xmlns:a="http://schemas.openxmlformats.org/drawingml/2006/main">
            <a: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알림 80%, 질문 20%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E688C9-2A49-4E0A-A648-C9704B8B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190750"/>
            <a:ext cx="2571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2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④ 근거 문서</a:t>
            </a:r>
          </a:p>
          <a:p xmlns:a="http://schemas.openxmlformats.org/drawingml/2006/main">
            <a:pPr algn="ctr">
              <a:def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작성 단계에 전달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9007E0-9EC9-4300-A8EB-8B38B008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78117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>런북 6개와 저장된 벡터를 사용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26A06B-738E-418E-AEDE-10A2E130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52800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② applicability.py의 알림 규칙   ④ 점수 기준을 통과한 최대 3개 문서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1C63E9-E754-4317-B527-F4B47FB7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71900"/>
            <a:ext cx="1112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>문서가 없으면 근거 부족 안내, 짧은 런북은 통째로 보존해 조건 누락 방지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C84B88-E3DA-4288-B55A-C8517A09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>③ 점수 계산과 정렬, retrieval/index.py 112~114행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F82123-60A4-4154-BB71-4F03D9B7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1112520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C8E67F-80F5-46D9-B5AC-834ED836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107442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    score = scores[0] * .8 + scores[-1] * .2 if len(scores) == 2 else scores[0]</a:t>
            </a:r>
          </a:p>
          <a:p xmlns:a="http://schemas.openxmlformats.org/drawingml/2006/main">
            <a:pPr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    ranked.append((score, doc))</a:t>
            </a:r>
          </a:p>
          <a:p xmlns:a="http://schemas.openxmlformats.org/drawingml/2006/main">
            <a:pPr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ranked.sort(key=lambda pair: pair[0], reverse=True)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D48CAB-92A2-4625-8C47-C66203D8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7900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scores[0]: 알림과 문서의 유사도 / scores[-1]: 질문과 문서의 유사도</a:t>
            </a:r>
          </a:p>
        </p:txBody>
      </p:sp>
    </p:spTree>
    <p:extLst>
      <p:ext uri="{BB962C8B-B14F-4D97-AF65-F5344CB8AC3E}">
        <p14:creationId xmlns:p14="http://schemas.microsoft.com/office/powerpoint/2010/main" val="10486149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57CAB8-6C6F-4FC3-BBFC-04B5CE7C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EE6FBF-09DE-4CA1-847C-15988C12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답변 검증: 조치와 적용 조건을 원문으로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70747D-8CA1-4BFB-B770-9A0B7667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4865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2126FC-D4B5-4B68-A4F9-ED3DBF0C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1112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추가 이유: “미회복 시” 조치와 “정상화 후” 조치가 섞이는 문제 해결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B617D1-E829-498D-AF5D-D80A8F12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>추가한 원문 연결, agent/graph.py 168~169행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C3A7C9-F2B1-4BBA-A51E-AD433312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33625"/>
            <a:ext cx="11125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C3B8D4-4A54-459C-B058-232F7B9F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107442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selection = NarrativeSelection.model_validate(narrative).model_dump()</a:t>
            </a:r>
          </a:p>
          <a:p xmlns:a="http://schemas.openxmlformats.org/drawingml/2006/main">
            <a:pPr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rendered = materialize(selection, state["evidence"])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6816B0-7BB9-4AD7-AB24-CD38310D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57625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① AI는 대응 문서에서 사용할 단계 번호를 선택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E54156-B7AC-4C04-B9D7-139535B9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43400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② materialize가 그 번호의 조건과 조치 원문을 함께 가져옴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201C08-0AAF-41E4-85CA-48AB886C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29175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③ 측정값과 근거를 검사, 실패하면 앞의 Graph 분기로 재작성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36718F-3592-4CF0-9574-CFE82649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81625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예: 5분 내 미회복 시 트래픽 분산 / 정상화 후 로그 분석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DB6D79-1A72-447C-87CE-F501EBEA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48375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>자동 테스트 48개 통과. 향후에는 전체 절차의 단계 누락과 새 질문 평가 보완</a:t>
            </a:r>
          </a:p>
        </p:txBody>
      </p:sp>
    </p:spTree>
    <p:extLst>
      <p:ext uri="{BB962C8B-B14F-4D97-AF65-F5344CB8AC3E}">
        <p14:creationId xmlns:p14="http://schemas.microsoft.com/office/powerpoint/2010/main" val="110187952"/>
      </p:ext>
    </p:extLst>
  </p:cSld>
</p:sld>
</file>

<file path=ppt/slides/slide9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BE1B2C-6713-49DD-81AE-5B31245E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8E5D99-7ACA-41C9-915A-E2F2B15C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부록 1, 로컬 모델(Ollama)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DF651E-E7DB-41D5-BF73-12F9D6EE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4865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95C9E9-D9EB-4BF0-8A96-85A2BDCA66A5}"/>
              </a:ext>
            </a:extLst>
          </p:cNvPr>
          <p:cNvGraphicFramePr/>
          <p:nvPr/>
        </p:nvGraphicFramePr>
        <p:xfrm>
          <a:off xmlns:a="http://schemas.openxmlformats.org/drawingml/2006/main" x="533400" y="1666875"/>
          <a:ext xmlns:a="http://schemas.openxmlformats.org/drawingml/2006/main" cx="111252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3238500"/>
                <a:gridCol w="2190750"/>
                <a:gridCol w="2933700"/>
              </a:tblGrid>
              <a:tr h="825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 / 작성 모델</a:t>
                      </a:r>
                    </a:p>
                  </a:txBody>
                  <a:tcPr marL="91440" marR="91440" marT="45720" marB="45720">
                    <a:solidFill>
                      <a:srgbClr val="14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응답 반환 원본 / 개선 후</a:t>
                      </a:r>
                    </a:p>
                  </a:txBody>
                  <a:tcPr marL="91440" marR="91440" marT="45720" marB="45720">
                    <a:solidFill>
                      <a:srgbClr val="14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개선 후 검증 실패</a:t>
                      </a:r>
                    </a:p>
                  </a:txBody>
                  <a:tcPr marL="91440" marR="91440" marT="45720" marB="45720">
                    <a:solidFill>
                      <a:srgbClr val="14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240초 초과 원본 / 개선 후</a:t>
                      </a:r>
                    </a:p>
                  </a:txBody>
                  <a:tcPr marL="91440" marR="91440" marT="45720" marB="45720">
                    <a:solidFill>
                      <a:srgbClr val="142B43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0.6B / 0.6B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28/30 / 21/30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8건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 / 9건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0.6B / 8B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25/30 / 23/30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 / 7건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40F1F2-8240-4951-A121-14D6A4C8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9625"/>
            <a:ext cx="1112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4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4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4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4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4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4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4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4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4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제출 기본 모델은 GPT-4o mini로 유지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A04836-C8A3-426C-AE2C-548E78AA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Ollama 0.40.6, CPU, 동일 30문항과 모델 파일로 원본과 개선 후 비교</a:t>
            </a:r>
          </a:p>
          <a:p xmlns:a="http://schemas.openxmlformats.org/drawingml/2006/main">
            <a:pPr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검증 실패는 응답 반환에 포함. 두 구성 모두 대상 확인 5/5 처리</a:t>
            </a:r>
          </a:p>
        </p:txBody>
      </p:sp>
    </p:spTree>
    <p:extLst>
      <p:ext uri="{BB962C8B-B14F-4D97-AF65-F5344CB8AC3E}">
        <p14:creationId xmlns:p14="http://schemas.microsoft.com/office/powerpoint/2010/main" val="971572995"/>
      </p:ext>
    </p:extLst>
  </p:cSld>
</p:sld>
</file>

<file path=ppt/slides/slide10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BC1D68-9CA3-4FB8-9F1B-3762E638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BA07C-487F-4553-8018-B583F09A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부록 2, 조치 조건 보존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3D623-B930-42B0-94B9-AA1615F0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4389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buNone/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buNone/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buNone/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buNone/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buNone/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buNone/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buNone/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buNone/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buNone/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buNone/>
              <a:defRPr sz="12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2685D-D613-49E5-89D2-C50DE969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AD4C42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025" b="1">
                <a:solidFill>
                  <a:srgbClr val="AD4C42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025" b="1">
                <a:solidFill>
                  <a:srgbClr val="AD4C42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025" b="1">
                <a:solidFill>
                  <a:srgbClr val="AD4C42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025" b="1">
                <a:solidFill>
                  <a:srgbClr val="AD4C42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025" b="1">
                <a:solidFill>
                  <a:srgbClr val="AD4C42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025" b="1">
                <a:solidFill>
                  <a:srgbClr val="AD4C42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025" b="1">
                <a:solidFill>
                  <a:srgbClr val="AD4C42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025" b="1">
                <a:solidFill>
                  <a:srgbClr val="AD4C42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025" b="1">
                <a:solidFill>
                  <a:srgbClr val="AD4C4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AD4C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AD4C42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38A907-3278-4562-BD85-D75785BF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523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1E2764-51E4-4396-B0B9-EC738E7D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9925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0A3C17-8836-4D13-BDD8-2BEB5554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62375"/>
            <a:ext cx="5238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C6D468-4FB5-4631-BEF5-1459DBC861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e40dba1a994a23"/>
          <a:srcRect xmlns:a="http://schemas.openxmlformats.org/drawingml/2006/main" l="6000" t="38500" r="6000" b="46000"/>
          <a:stretch xmlns:a="http://schemas.openxmlformats.org/drawingml/2006/main"/>
        </p:blipFill>
        <p:spPr>
          <a:xfrm xmlns:a="http://schemas.openxmlformats.org/drawingml/2006/main">
            <a:off x="533400" y="3143250"/>
            <a:ext cx="11125200" cy="1714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5758A5-CB2E-4F9A-9297-E19534A0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48050"/>
            <a:ext cx="5657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4D70E2-BE4F-4A4E-A8E6-6BD75866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62500"/>
            <a:ext cx="5657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909266-A6A2-4F5B-9C0D-2B3FAE21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F98500-4783-4540-85CA-B7C2DBE5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1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1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1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1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1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1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1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1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1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수정 전: 미회복 조건과 정상화 후 조치가 섞임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1E00F2-C5AA-4D30-A045-27EC26DA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57375"/>
            <a:ext cx="11125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최종 제출본: 원문 단계의 조건과 조치를 함께 보존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9308EC-962D-4779-BB55-AC93F3E4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62200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모델은 문서의 단계를 선택하고, 서버가 조건과 조치 원문을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A4F3F1-665F-4D18-A993-EEE6F3A4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11125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4단계: 5분 내 미회복 시 분산 / 5단계: 정상화 후 로그 분석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798492-BDAB-4884-A5E4-4A872DEE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53125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>개선 후 실행 화면, 전체 절차 보충 질문. 1~5단계 원문과 조건 일치 확인</a:t>
            </a:r>
          </a:p>
        </p:txBody>
      </p:sp>
    </p:spTree>
    <p:extLst>
      <p:ext uri="{BB962C8B-B14F-4D97-AF65-F5344CB8AC3E}">
        <p14:creationId xmlns:p14="http://schemas.microsoft.com/office/powerpoint/2010/main" val="1667429481"/>
      </p:ext>
    </p:extLst>
  </p:cSld>
</p:sld>
</file>

<file path=ppt/slides/slide11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F378F0-34B4-4D01-8F1A-528416C5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부록 3, 트러블슈팅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563686-0617-47C3-ADDD-209E89BA3AFD}"/>
              </a:ext>
            </a:extLst>
          </p:cNvPr>
          <p:cNvGraphicFramePr/>
          <p:nvPr/>
        </p:nvGraphicFramePr>
        <p:xfrm>
          <a:off xmlns:a="http://schemas.openxmlformats.org/drawingml/2006/main" x="533400" y="1524000"/>
          <a:ext xmlns:a="http://schemas.openxmlformats.org/drawingml/2006/main" cx="111252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5191125"/>
                <a:gridCol w="3648075"/>
              </a:tblGrid>
              <a:tr h="6858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발견한 문제</a:t>
                      </a:r>
                    </a:p>
                  </a:txBody>
                  <a:tcPr marL="91440" marR="91440" marT="45720" marB="45720">
                    <a:solidFill>
                      <a:srgbClr val="14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수정한 방법</a:t>
                      </a:r>
                    </a:p>
                  </a:txBody>
                  <a:tcPr marL="91440" marR="91440" marT="45720" marB="45720">
                    <a:solidFill>
                      <a:srgbClr val="14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결과</a:t>
                      </a:r>
                    </a:p>
                  </a:txBody>
                  <a:tcPr marL="91440" marR="91440" marT="45720" marB="45720">
                    <a:solidFill>
                      <a:srgbClr val="142B4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날짜를 서비스로 오인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유효한 날짜만 대상에서 제외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날짜 테스트 5개, 실모델 UI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대화 중 다른 작업 지연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동기 HTTP를 별도 스레드 실행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비동기 회귀 테스트 2개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시작 실패 시 자원 잔류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실패와 취소에도 역순 정리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시작과 MCP 테스트 7개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조치의 적용 조건 혼합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원문 단계의 조건과 조치 연결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3회 측정, 조치 원문 147개 일치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6B7E9C-4A1A-482E-B0CD-E50E833B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48275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1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1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1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1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1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1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1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1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1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수정 전 오류 재현과 수정 후 결과를 함께 보존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1261B3-DE17-440A-981F-C04E2476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57875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>동일 30문항은 회귀 비교. 날짜와 동시 처리 결함은 별도 테스트로 보완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603E19-7086-45DE-B555-ED27D97D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4389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buNone/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buNone/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buNone/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buNone/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buNone/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buNone/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buNone/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buNone/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buNone/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buNone/>
              <a:defRPr sz="12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031777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Slides>11</ap:Slides>
  <ap:Notes>0</ap:Notes>
  <ap:HiddenSlides>3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장애 대응 Agent 개선</dc:title>
  <dcterms:created xsi:type="dcterms:W3CDTF">2026-10-21T11:11:03.9140000Z</dcterms:created>
  <dcterms:modified xsi:type="dcterms:W3CDTF">2026-10-21T11:11:03.9140000Z</dcterms:modified>
</coreProperties>
</file>